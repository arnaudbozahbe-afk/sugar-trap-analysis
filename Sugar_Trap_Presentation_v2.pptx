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00c49a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00c49a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00b389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009e79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008a69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007559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006149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004c39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003829"/>
              </a:solidFill>
              <a:ln w="0">
                <a:noFill/>
              </a:ln>
            </c:spPr>
          </c:dPt>
          <c:dLbls>
            <c:dLbl>
              <c:idx val="0"/>
              <c:numFmt formatCode="0\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\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\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\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\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0\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0\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0\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\%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f0ede8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Chips &amp; Savory Snacks</c:v>
                </c:pt>
                <c:pt idx="1">
                  <c:v>Candy &amp; Confectionery</c:v>
                </c:pt>
                <c:pt idx="2">
                  <c:v>Baked Goods &amp; Cookies</c:v>
                </c:pt>
                <c:pt idx="3">
                  <c:v>Cereals &amp; Granola</c:v>
                </c:pt>
                <c:pt idx="4">
                  <c:v>Dairy &amp; Eggs</c:v>
                </c:pt>
                <c:pt idx="5">
                  <c:v>Nuts &amp; Seeds</c:v>
                </c:pt>
                <c:pt idx="6">
                  <c:v>Fruit &amp; Veg Snacks</c:v>
                </c:pt>
                <c:pt idx="7">
                  <c:v>Protein Bars &amp; Shakes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31</c:v>
                </c:pt>
                <c:pt idx="1">
                  <c:v>25</c:v>
                </c:pt>
                <c:pt idx="2">
                  <c:v>18</c:v>
                </c:pt>
                <c:pt idx="3">
                  <c:v>10</c:v>
                </c:pt>
                <c:pt idx="4">
                  <c:v>7</c:v>
                </c:pt>
                <c:pt idx="5">
                  <c:v>4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</c:ser>
        <c:gapWidth val="150"/>
        <c:overlap val="0"/>
        <c:axId val="23917776"/>
        <c:axId val="91648075"/>
      </c:barChart>
      <c:catAx>
        <c:axId val="239177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c8d0d8"/>
                </a:solidFill>
                <a:uFillTx/>
                <a:latin typeface="Arial"/>
              </a:defRPr>
            </a:pPr>
          </a:p>
        </c:txPr>
        <c:crossAx val="91648075"/>
        <c:crosses val="autoZero"/>
        <c:auto val="1"/>
        <c:lblAlgn val="ctr"/>
        <c:lblOffset val="100"/>
        <c:noMultiLvlLbl val="0"/>
      </c:catAx>
      <c:valAx>
        <c:axId val="91648075"/>
        <c:scaling>
          <c:orientation val="minMax"/>
          <c:max val="35"/>
        </c:scaling>
        <c:delete val="0"/>
        <c:axPos val="l"/>
        <c:majorGridlines>
          <c:spPr>
            <a:ln w="6480">
              <a:solidFill>
                <a:srgbClr val="1e3a5f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23917776"/>
        <c:crosses val="autoZero"/>
        <c:crossBetween val="between"/>
      </c:valAx>
      <c:spPr>
        <a:solidFill>
          <a:srgbClr val="131c35"/>
        </a:solidFill>
        <a:ln w="0">
          <a:noFill/>
        </a:ln>
      </c:spPr>
    </c:plotArea>
    <c:plotVisOnly val="1"/>
    <c:dispBlanksAs val="span"/>
  </c:chart>
  <c:spPr>
    <a:solidFill>
      <a:srgbClr val="131c35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Avg Protein (g/100g)</c:v>
                </c:pt>
              </c:strCache>
            </c:strRef>
          </c:tx>
          <c:spPr>
            <a:solidFill>
              <a:srgbClr val="00c49a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00c49a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14b8a6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22d3c0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34d3c0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4adac8"/>
              </a:solidFill>
              <a:ln w="0">
                <a:noFill/>
              </a:ln>
            </c:spPr>
          </c:dPt>
          <c:dLbls>
            <c:dLbl>
              <c:idx val="0"/>
              <c:numFmt formatCode="0.0\g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\g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\g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.0\g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.0\g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\g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f0ede8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Protein Bars &amp; Shakes</c:v>
                </c:pt>
                <c:pt idx="1">
                  <c:v>Nuts &amp; Seeds</c:v>
                </c:pt>
                <c:pt idx="2">
                  <c:v>Dairy &amp; Eggs</c:v>
                </c:pt>
                <c:pt idx="3">
                  <c:v>Cereals &amp; Granola</c:v>
                </c:pt>
                <c:pt idx="4">
                  <c:v>Fruit &amp; Veg Snacks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22.4</c:v>
                </c:pt>
                <c:pt idx="1">
                  <c:v>12.8</c:v>
                </c:pt>
                <c:pt idx="2">
                  <c:v>11.5</c:v>
                </c:pt>
                <c:pt idx="3">
                  <c:v>8.3</c:v>
                </c:pt>
                <c:pt idx="4">
                  <c:v>5.2</c:v>
                </c:pt>
              </c:numCache>
            </c:numRef>
          </c:val>
        </c:ser>
        <c:gapWidth val="150"/>
        <c:overlap val="0"/>
        <c:axId val="35266182"/>
        <c:axId val="81415632"/>
      </c:barChart>
      <c:catAx>
        <c:axId val="3526618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c8d0d8"/>
                </a:solidFill>
                <a:uFillTx/>
                <a:latin typeface="Arial"/>
              </a:defRPr>
            </a:pPr>
          </a:p>
        </c:txPr>
        <c:crossAx val="81415632"/>
        <c:crosses val="autoZero"/>
        <c:auto val="1"/>
        <c:lblAlgn val="ctr"/>
        <c:lblOffset val="100"/>
        <c:noMultiLvlLbl val="0"/>
      </c:catAx>
      <c:valAx>
        <c:axId val="81415632"/>
        <c:scaling>
          <c:orientation val="minMax"/>
          <c:max val="28"/>
        </c:scaling>
        <c:delete val="0"/>
        <c:axPos val="l"/>
        <c:majorGridlines>
          <c:spPr>
            <a:ln w="6480">
              <a:solidFill>
                <a:srgbClr val="1e3a5f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35266182"/>
        <c:crosses val="autoZero"/>
        <c:crossBetween val="between"/>
      </c:valAx>
      <c:spPr>
        <a:solidFill>
          <a:srgbClr val="131c35"/>
        </a:solidFill>
        <a:ln w="0">
          <a:noFill/>
        </a:ln>
      </c:spPr>
    </c:plotArea>
    <c:plotVisOnly val="1"/>
    <c:dispBlanksAs val="span"/>
  </c:chart>
  <c:spPr>
    <a:solidFill>
      <a:srgbClr val="131c35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# Products</c:v>
                </c:pt>
              </c:strCache>
            </c:strRef>
          </c:tx>
          <c:spPr>
            <a:solidFill>
              <a:srgbClr val="00c49a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00c49a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f59e0b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818cf8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34d3c0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60a5fa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a78bfa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fb923c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e879f9"/>
              </a:solidFill>
              <a:ln w="0">
                <a:noFill/>
              </a:ln>
            </c:spPr>
          </c:dPt>
          <c:dLbls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0ede8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#,##0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f0ede8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Peanut</c:v>
                </c:pt>
                <c:pt idx="1">
                  <c:v>Almond</c:v>
                </c:pt>
                <c:pt idx="2">
                  <c:v>Whey</c:v>
                </c:pt>
                <c:pt idx="3">
                  <c:v>Soy</c:v>
                </c:pt>
                <c:pt idx="4">
                  <c:v>Egg</c:v>
                </c:pt>
                <c:pt idx="5">
                  <c:v>Pea Protein</c:v>
                </c:pt>
                <c:pt idx="6">
                  <c:v>Casein</c:v>
                </c:pt>
                <c:pt idx="7">
                  <c:v>Hemp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18420</c:v>
                </c:pt>
                <c:pt idx="1">
                  <c:v>9830</c:v>
                </c:pt>
                <c:pt idx="2">
                  <c:v>6210</c:v>
                </c:pt>
                <c:pt idx="3">
                  <c:v>4100</c:v>
                </c:pt>
                <c:pt idx="4">
                  <c:v>2800</c:v>
                </c:pt>
                <c:pt idx="5">
                  <c:v>1900</c:v>
                </c:pt>
                <c:pt idx="6">
                  <c:v>1200</c:v>
                </c:pt>
                <c:pt idx="7">
                  <c:v>700</c:v>
                </c:pt>
              </c:numCache>
            </c:numRef>
          </c:val>
        </c:ser>
        <c:gapWidth val="150"/>
        <c:overlap val="0"/>
        <c:axId val="13564271"/>
        <c:axId val="67867683"/>
      </c:barChart>
      <c:catAx>
        <c:axId val="1356427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c8d0d8"/>
                </a:solidFill>
                <a:uFillTx/>
                <a:latin typeface="Arial"/>
              </a:defRPr>
            </a:pPr>
          </a:p>
        </c:txPr>
        <c:crossAx val="67867683"/>
        <c:crosses val="autoZero"/>
        <c:auto val="1"/>
        <c:lblAlgn val="ctr"/>
        <c:lblOffset val="100"/>
        <c:noMultiLvlLbl val="0"/>
      </c:catAx>
      <c:valAx>
        <c:axId val="67867683"/>
        <c:scaling>
          <c:orientation val="minMax"/>
        </c:scaling>
        <c:delete val="0"/>
        <c:axPos val="l"/>
        <c:majorGridlines>
          <c:spPr>
            <a:ln w="6480">
              <a:solidFill>
                <a:srgbClr val="1e3a5f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13564271"/>
        <c:crosses val="autoZero"/>
        <c:crossBetween val="between"/>
      </c:valAx>
      <c:spPr>
        <a:solidFill>
          <a:srgbClr val="131c35"/>
        </a:solidFill>
        <a:ln w="0">
          <a:noFill/>
        </a:ln>
      </c:spPr>
    </c:plotArea>
    <c:plotVisOnly val="1"/>
    <c:dispBlanksAs val="span"/>
  </c:chart>
  <c:spPr>
    <a:solidFill>
      <a:srgbClr val="131c35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7A3EE0D-412B-4F90-ACFC-D1A49B16830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64A07E-F87F-4E5F-B39B-C8CB0A35EB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24B49A-688E-40E4-A5F3-AACF48E063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5B7BB1-8BD1-4D7F-B341-E0D565AA25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67F5E1-9E12-417A-9B92-6E4F4C21D0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1F2629-6066-4530-A98D-840CB9FACA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03EB95-AC62-4D95-8C3B-10ACE5A0C6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B83428-A5DC-4A3D-96E5-06A41BD7B8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2AC44E-DBAC-44F2-A82A-76AC714C4E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A06D41-B522-4280-906B-CFC7768B8A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FD5301-2955-467D-B58B-6DA8B3B603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2D05BA-486D-442C-863C-08FDB3E916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6583680" y="-1645920"/>
            <a:ext cx="4571640" cy="4571640"/>
          </a:xfrm>
          <a:prstGeom prst="ellipse">
            <a:avLst/>
          </a:prstGeom>
          <a:solidFill>
            <a:srgbClr val="00c49a">
              <a:alpha val="15000"/>
            </a:srgbClr>
          </a:solidFill>
          <a:ln w="12700">
            <a:solidFill>
              <a:srgbClr val="00c49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731520" y="3474720"/>
            <a:ext cx="2742840" cy="274284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00c49a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8640" y="1005840"/>
            <a:ext cx="8046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600" b="1" u="none" strike="noStrike">
                <a:solidFill>
                  <a:srgbClr val="f0ede8"/>
                </a:solidFill>
                <a:effectLst/>
                <a:uFillTx/>
                <a:latin typeface="Arial Black"/>
                <a:ea typeface="Arial Black"/>
              </a:rPr>
              <a:t>       SUGAR TRAP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2331720"/>
            <a:ext cx="6400440" cy="10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i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                  Blue Ocean Market Gap Analysis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i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                 By: Arnaud FOUBEUDA BOZAHBE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2057760" y="3392640"/>
            <a:ext cx="3200040" cy="3636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48640" y="31546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548640" y="470916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502920" y="3474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499" strike="noStrike">
                <a:solidFill>
                  <a:srgbClr val="00c49a"/>
                </a:solidFill>
                <a:effectLst/>
                <a:uFillTx/>
                <a:latin typeface="Calibri"/>
              </a:rPr>
              <a:t>AGENDA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502920" y="6858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0ede8"/>
                </a:solidFill>
                <a:effectLst/>
                <a:uFillTx/>
                <a:latin typeface="Arial Black"/>
                <a:ea typeface="Arial Black"/>
              </a:rPr>
              <a:t>What We'll Cover Today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2"/>
          <p:cNvSpPr/>
          <p:nvPr/>
        </p:nvSpPr>
        <p:spPr>
          <a:xfrm>
            <a:off x="502920" y="1353240"/>
            <a:ext cx="8137800" cy="27000"/>
          </a:xfrm>
          <a:prstGeom prst="rect">
            <a:avLst/>
          </a:prstGeom>
          <a:solidFill>
            <a:srgbClr val="00c49a">
              <a:alpha val="40000"/>
            </a:srgbClr>
          </a:solidFill>
          <a:ln w="12700">
            <a:solidFill>
              <a:srgbClr val="00c49a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3"/>
          <p:cNvSpPr/>
          <p:nvPr/>
        </p:nvSpPr>
        <p:spPr>
          <a:xfrm>
            <a:off x="502920" y="1591200"/>
            <a:ext cx="347040" cy="347040"/>
          </a:xfrm>
          <a:prstGeom prst="ellipse">
            <a:avLst/>
          </a:prstGeom>
          <a:solidFill>
            <a:srgbClr val="00c49a">
              <a:alpha val="20000"/>
            </a:srgbClr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502920" y="1591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987480" y="157284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0ede8"/>
                </a:solidFill>
                <a:effectLst/>
                <a:uFillTx/>
                <a:latin typeface="Calibri"/>
              </a:rPr>
              <a:t>Business Context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987480" y="180144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Why this matters for the snack industry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502920" y="2084760"/>
            <a:ext cx="347040" cy="347040"/>
          </a:xfrm>
          <a:prstGeom prst="ellipse">
            <a:avLst/>
          </a:prstGeom>
          <a:solidFill>
            <a:srgbClr val="00c49a">
              <a:alpha val="20000"/>
            </a:srgbClr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502920" y="20847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9"/>
          <p:cNvSpPr/>
          <p:nvPr/>
        </p:nvSpPr>
        <p:spPr>
          <a:xfrm>
            <a:off x="987480" y="206640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0ede8"/>
                </a:solidFill>
                <a:effectLst/>
                <a:uFillTx/>
                <a:latin typeface="Calibri"/>
              </a:rPr>
              <a:t>Data &amp; Methodology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987480" y="229500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Open Food Facts · 500k rows · cleaning pipeline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1"/>
          <p:cNvSpPr/>
          <p:nvPr/>
        </p:nvSpPr>
        <p:spPr>
          <a:xfrm>
            <a:off x="502920" y="2578680"/>
            <a:ext cx="347040" cy="347040"/>
          </a:xfrm>
          <a:prstGeom prst="ellipse">
            <a:avLst/>
          </a:prstGeom>
          <a:solidFill>
            <a:srgbClr val="00c49a">
              <a:alpha val="20000"/>
            </a:srgbClr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502920" y="2578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987480" y="256032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0ede8"/>
                </a:solidFill>
                <a:effectLst/>
                <a:uFillTx/>
                <a:latin typeface="Calibri"/>
              </a:rPr>
              <a:t>The Nutrient Matrix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987480" y="278892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Sugar vs Protein — mapping the landscape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5"/>
          <p:cNvSpPr/>
          <p:nvPr/>
        </p:nvSpPr>
        <p:spPr>
          <a:xfrm>
            <a:off x="502920" y="3072240"/>
            <a:ext cx="347040" cy="347040"/>
          </a:xfrm>
          <a:prstGeom prst="ellipse">
            <a:avLst/>
          </a:prstGeom>
          <a:solidFill>
            <a:srgbClr val="00c49a">
              <a:alpha val="20000"/>
            </a:srgbClr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502920" y="30722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7"/>
          <p:cNvSpPr/>
          <p:nvPr/>
        </p:nvSpPr>
        <p:spPr>
          <a:xfrm>
            <a:off x="987480" y="305424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0ede8"/>
                </a:solidFill>
                <a:effectLst/>
                <a:uFillTx/>
                <a:latin typeface="Calibri"/>
              </a:rPr>
              <a:t>Blue Ocean Discovery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8"/>
          <p:cNvSpPr/>
          <p:nvPr/>
        </p:nvSpPr>
        <p:spPr>
          <a:xfrm>
            <a:off x="987480" y="328284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Where the market gap really is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9"/>
          <p:cNvSpPr/>
          <p:nvPr/>
        </p:nvSpPr>
        <p:spPr>
          <a:xfrm>
            <a:off x="502920" y="3566160"/>
            <a:ext cx="347040" cy="347040"/>
          </a:xfrm>
          <a:prstGeom prst="ellipse">
            <a:avLst/>
          </a:prstGeom>
          <a:solidFill>
            <a:srgbClr val="00c49a">
              <a:alpha val="20000"/>
            </a:srgbClr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0"/>
          <p:cNvSpPr/>
          <p:nvPr/>
        </p:nvSpPr>
        <p:spPr>
          <a:xfrm>
            <a:off x="502920" y="35661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1"/>
          <p:cNvSpPr/>
          <p:nvPr/>
        </p:nvSpPr>
        <p:spPr>
          <a:xfrm>
            <a:off x="987480" y="354780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0ede8"/>
                </a:solidFill>
                <a:effectLst/>
                <a:uFillTx/>
                <a:latin typeface="Calibri"/>
              </a:rPr>
              <a:t>Protein Source Deep-Dive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2"/>
          <p:cNvSpPr/>
          <p:nvPr/>
        </p:nvSpPr>
        <p:spPr>
          <a:xfrm>
            <a:off x="987480" y="377640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What drives high-protein products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3"/>
          <p:cNvSpPr/>
          <p:nvPr/>
        </p:nvSpPr>
        <p:spPr>
          <a:xfrm>
            <a:off x="502920" y="4060080"/>
            <a:ext cx="347040" cy="347040"/>
          </a:xfrm>
          <a:prstGeom prst="ellipse">
            <a:avLst/>
          </a:prstGeom>
          <a:solidFill>
            <a:srgbClr val="00c49a">
              <a:alpha val="20000"/>
            </a:srgbClr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4"/>
          <p:cNvSpPr/>
          <p:nvPr/>
        </p:nvSpPr>
        <p:spPr>
          <a:xfrm>
            <a:off x="502920" y="4060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5"/>
          <p:cNvSpPr/>
          <p:nvPr/>
        </p:nvSpPr>
        <p:spPr>
          <a:xfrm>
            <a:off x="987480" y="404172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0ede8"/>
                </a:solidFill>
                <a:effectLst/>
                <a:uFillTx/>
                <a:latin typeface="Calibri"/>
              </a:rPr>
              <a:t>Nutri-Score × Protein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6"/>
          <p:cNvSpPr/>
          <p:nvPr/>
        </p:nvSpPr>
        <p:spPr>
          <a:xfrm>
            <a:off x="987480" y="427032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Candidate's Choice — the investable white space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7"/>
          <p:cNvSpPr/>
          <p:nvPr/>
        </p:nvSpPr>
        <p:spPr>
          <a:xfrm>
            <a:off x="502920" y="4553640"/>
            <a:ext cx="347040" cy="347040"/>
          </a:xfrm>
          <a:prstGeom prst="ellipse">
            <a:avLst/>
          </a:prstGeom>
          <a:solidFill>
            <a:srgbClr val="00c49a">
              <a:alpha val="20000"/>
            </a:srgbClr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8"/>
          <p:cNvSpPr/>
          <p:nvPr/>
        </p:nvSpPr>
        <p:spPr>
          <a:xfrm>
            <a:off x="502920" y="4553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07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9"/>
          <p:cNvSpPr/>
          <p:nvPr/>
        </p:nvSpPr>
        <p:spPr>
          <a:xfrm>
            <a:off x="987480" y="453528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0ede8"/>
                </a:solidFill>
                <a:effectLst/>
                <a:uFillTx/>
                <a:latin typeface="Calibri"/>
              </a:rPr>
              <a:t>Recommendation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0"/>
          <p:cNvSpPr/>
          <p:nvPr/>
        </p:nvSpPr>
        <p:spPr>
          <a:xfrm>
            <a:off x="987480" y="476388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The actionable brief for R&amp;D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502920" y="3474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499" strike="noStrike">
                <a:solidFill>
                  <a:srgbClr val="00c49a"/>
                </a:solidFill>
                <a:effectLst/>
                <a:uFillTx/>
                <a:latin typeface="Calibri"/>
              </a:rPr>
              <a:t>BUSINESS CONTEXT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502920" y="6217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0ede8"/>
                </a:solidFill>
                <a:effectLst/>
                <a:uFillTx/>
                <a:latin typeface="Arial Black"/>
                <a:ea typeface="Arial Black"/>
              </a:rPr>
              <a:t>The Question on the Table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502920" y="1417320"/>
            <a:ext cx="8229240" cy="1325520"/>
          </a:xfrm>
          <a:prstGeom prst="rect">
            <a:avLst/>
          </a:prstGeom>
          <a:solidFill>
            <a:srgbClr val="131c35"/>
          </a:solidFill>
          <a:ln w="19050">
            <a:solidFill>
              <a:srgbClr val="00c49a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502920" y="1417320"/>
            <a:ext cx="54360" cy="13255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749880" y="1536120"/>
            <a:ext cx="7772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i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"Where is the Blue Ocean in the snack aisle?"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749880" y="221292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Global Snack Manufacturer, Client Brief 2024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6"/>
          <p:cNvSpPr/>
          <p:nvPr/>
        </p:nvSpPr>
        <p:spPr>
          <a:xfrm>
            <a:off x="502920" y="2926080"/>
            <a:ext cx="2742840" cy="1645560"/>
          </a:xfrm>
          <a:prstGeom prst="rect">
            <a:avLst/>
          </a:prstGeom>
          <a:solidFill>
            <a:srgbClr val="131c35"/>
          </a:solidFill>
          <a:ln w="12700">
            <a:solidFill>
              <a:srgbClr val="1e3a5f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502920" y="30175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🏭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502920" y="34747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201" strike="noStrike">
                <a:solidFill>
                  <a:srgbClr val="00c49a"/>
                </a:solidFill>
                <a:effectLst/>
                <a:uFillTx/>
                <a:latin typeface="Calibri"/>
              </a:rPr>
              <a:t>Client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640080" y="376740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Global snack manufacturer seeking new product direction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0"/>
          <p:cNvSpPr/>
          <p:nvPr/>
        </p:nvSpPr>
        <p:spPr>
          <a:xfrm>
            <a:off x="3383280" y="2926080"/>
            <a:ext cx="2742840" cy="1645560"/>
          </a:xfrm>
          <a:prstGeom prst="rect">
            <a:avLst/>
          </a:prstGeom>
          <a:solidFill>
            <a:srgbClr val="131c35"/>
          </a:solidFill>
          <a:ln w="12700">
            <a:solidFill>
              <a:srgbClr val="1e3a5f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3383280" y="30175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🎯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3383280" y="34747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201" strike="noStrike">
                <a:solidFill>
                  <a:srgbClr val="00c49a"/>
                </a:solidFill>
                <a:effectLst/>
                <a:uFillTx/>
                <a:latin typeface="Calibri"/>
              </a:rPr>
              <a:t>Mandate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3520440" y="376740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Identify under-served categories with unmet health demand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4"/>
          <p:cNvSpPr/>
          <p:nvPr/>
        </p:nvSpPr>
        <p:spPr>
          <a:xfrm>
            <a:off x="6263640" y="2926080"/>
            <a:ext cx="2742840" cy="1645560"/>
          </a:xfrm>
          <a:prstGeom prst="rect">
            <a:avLst/>
          </a:prstGeom>
          <a:solidFill>
            <a:srgbClr val="131c35"/>
          </a:solidFill>
          <a:ln w="12700">
            <a:solidFill>
              <a:srgbClr val="1e3a5f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6263640" y="30175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📊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6263640" y="34747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201" strike="noStrike">
                <a:solidFill>
                  <a:srgbClr val="00c49a"/>
                </a:solidFill>
                <a:effectLst/>
                <a:uFillTx/>
                <a:latin typeface="Calibri"/>
              </a:rPr>
              <a:t>Output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6400800" y="376740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Data-driven recommendation ready for R&amp;D handoff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02920" y="3474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499" strike="noStrike">
                <a:solidFill>
                  <a:srgbClr val="00c49a"/>
                </a:solidFill>
                <a:effectLst/>
                <a:uFillTx/>
                <a:latin typeface="Calibri"/>
              </a:rPr>
              <a:t>DATA &amp; METHODOLOGY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02920" y="6217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0ede8"/>
                </a:solidFill>
                <a:effectLst/>
                <a:uFillTx/>
                <a:latin typeface="Arial Black"/>
                <a:ea typeface="Arial Black"/>
              </a:rPr>
              <a:t>From +3GB Raw Data to Clean Insights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502920" y="1417320"/>
            <a:ext cx="3931560" cy="767880"/>
          </a:xfrm>
          <a:prstGeom prst="rect">
            <a:avLst/>
          </a:prstGeom>
          <a:solidFill>
            <a:srgbClr val="131c35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685800" y="146304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00c49a"/>
                </a:solidFill>
                <a:effectLst/>
                <a:uFillTx/>
                <a:latin typeface="Arial Black"/>
                <a:ea typeface="Arial Black"/>
              </a:rPr>
              <a:t>500,000+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2103120" y="152712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Rows loaded (chunked, memory-safe)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5"/>
          <p:cNvSpPr/>
          <p:nvPr/>
        </p:nvSpPr>
        <p:spPr>
          <a:xfrm>
            <a:off x="502920" y="2313360"/>
            <a:ext cx="3931560" cy="767880"/>
          </a:xfrm>
          <a:prstGeom prst="rect">
            <a:avLst/>
          </a:prstGeom>
          <a:solidFill>
            <a:srgbClr val="131c35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685800" y="235908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00c49a"/>
                </a:solidFill>
                <a:effectLst/>
                <a:uFillTx/>
                <a:latin typeface="Arial Black"/>
                <a:ea typeface="Arial Black"/>
              </a:rPr>
              <a:t>9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2103120" y="242316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Columns selected from 200+ available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8"/>
          <p:cNvSpPr/>
          <p:nvPr/>
        </p:nvSpPr>
        <p:spPr>
          <a:xfrm>
            <a:off x="502920" y="3209400"/>
            <a:ext cx="3931560" cy="767880"/>
          </a:xfrm>
          <a:prstGeom prst="rect">
            <a:avLst/>
          </a:prstGeom>
          <a:solidFill>
            <a:srgbClr val="131c35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9"/>
          <p:cNvSpPr/>
          <p:nvPr/>
        </p:nvSpPr>
        <p:spPr>
          <a:xfrm>
            <a:off x="685800" y="325512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00c49a"/>
                </a:solidFill>
                <a:effectLst/>
                <a:uFillTx/>
                <a:latin typeface="Arial Black"/>
                <a:ea typeface="Arial Black"/>
              </a:rPr>
              <a:t>~60%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2103120" y="331920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Rows retained after cleaning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1"/>
          <p:cNvSpPr/>
          <p:nvPr/>
        </p:nvSpPr>
        <p:spPr>
          <a:xfrm>
            <a:off x="502920" y="4105800"/>
            <a:ext cx="3931560" cy="767880"/>
          </a:xfrm>
          <a:prstGeom prst="rect">
            <a:avLst/>
          </a:prstGeom>
          <a:solidFill>
            <a:srgbClr val="131c35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685800" y="415152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00c49a"/>
                </a:solidFill>
                <a:effectLst/>
                <a:uFillTx/>
                <a:latin typeface="Arial Black"/>
                <a:ea typeface="Arial Black"/>
              </a:rPr>
              <a:t>8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2103120" y="421524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High-level product categories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4"/>
          <p:cNvSpPr/>
          <p:nvPr/>
        </p:nvSpPr>
        <p:spPr>
          <a:xfrm>
            <a:off x="4846320" y="1417320"/>
            <a:ext cx="3885840" cy="3565800"/>
          </a:xfrm>
          <a:prstGeom prst="rect">
            <a:avLst/>
          </a:prstGeom>
          <a:solidFill>
            <a:srgbClr val="131c35"/>
          </a:solidFill>
          <a:ln w="12700">
            <a:solidFill>
              <a:srgbClr val="00c49a">
                <a:alpha val="40000"/>
              </a:srgbClr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5029200" y="15544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300" strike="noStrike">
                <a:solidFill>
                  <a:srgbClr val="00c49a"/>
                </a:solidFill>
                <a:effectLst/>
                <a:uFillTx/>
                <a:latin typeface="Calibri"/>
              </a:rPr>
              <a:t>CLEANING RULES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6"/>
          <p:cNvSpPr/>
          <p:nvPr/>
        </p:nvSpPr>
        <p:spPr>
          <a:xfrm>
            <a:off x="5010840" y="1984320"/>
            <a:ext cx="237240" cy="237240"/>
          </a:xfrm>
          <a:prstGeom prst="ellipse">
            <a:avLst/>
          </a:prstGeom>
          <a:solidFill>
            <a:srgbClr val="00c49a">
              <a:alpha val="30000"/>
            </a:srgbClr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7"/>
          <p:cNvSpPr/>
          <p:nvPr/>
        </p:nvSpPr>
        <p:spPr>
          <a:xfrm>
            <a:off x="5010840" y="198432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8"/>
          <p:cNvSpPr/>
          <p:nvPr/>
        </p:nvSpPr>
        <p:spPr>
          <a:xfrm>
            <a:off x="5321880" y="1938600"/>
            <a:ext cx="3245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Drop rows missing product_name, sugars_100g or proteins_100g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9"/>
          <p:cNvSpPr/>
          <p:nvPr/>
        </p:nvSpPr>
        <p:spPr>
          <a:xfrm>
            <a:off x="5010840" y="2459880"/>
            <a:ext cx="237240" cy="237240"/>
          </a:xfrm>
          <a:prstGeom prst="ellipse">
            <a:avLst/>
          </a:prstGeom>
          <a:solidFill>
            <a:srgbClr val="00c49a">
              <a:alpha val="30000"/>
            </a:srgbClr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0"/>
          <p:cNvSpPr/>
          <p:nvPr/>
        </p:nvSpPr>
        <p:spPr>
          <a:xfrm>
            <a:off x="5010840" y="245988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2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1"/>
          <p:cNvSpPr/>
          <p:nvPr/>
        </p:nvSpPr>
        <p:spPr>
          <a:xfrm>
            <a:off x="5321880" y="2414160"/>
            <a:ext cx="3245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Force-coerce all nutrient columns to numeric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2"/>
          <p:cNvSpPr/>
          <p:nvPr/>
        </p:nvSpPr>
        <p:spPr>
          <a:xfrm>
            <a:off x="5010840" y="2935080"/>
            <a:ext cx="237240" cy="237240"/>
          </a:xfrm>
          <a:prstGeom prst="ellipse">
            <a:avLst/>
          </a:prstGeom>
          <a:solidFill>
            <a:srgbClr val="00c49a">
              <a:alpha val="30000"/>
            </a:srgbClr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3"/>
          <p:cNvSpPr/>
          <p:nvPr/>
        </p:nvSpPr>
        <p:spPr>
          <a:xfrm>
            <a:off x="5010840" y="293508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3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4"/>
          <p:cNvSpPr/>
          <p:nvPr/>
        </p:nvSpPr>
        <p:spPr>
          <a:xfrm>
            <a:off x="5321880" y="2889360"/>
            <a:ext cx="3245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Remove physiologically impossible values (nutrients &gt; 100g/100g)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5"/>
          <p:cNvSpPr/>
          <p:nvPr/>
        </p:nvSpPr>
        <p:spPr>
          <a:xfrm>
            <a:off x="5010840" y="3410640"/>
            <a:ext cx="237240" cy="237240"/>
          </a:xfrm>
          <a:prstGeom prst="ellipse">
            <a:avLst/>
          </a:prstGeom>
          <a:solidFill>
            <a:srgbClr val="00c49a">
              <a:alpha val="30000"/>
            </a:srgbClr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6"/>
          <p:cNvSpPr/>
          <p:nvPr/>
        </p:nvSpPr>
        <p:spPr>
          <a:xfrm>
            <a:off x="5010840" y="341064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4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7"/>
          <p:cNvSpPr/>
          <p:nvPr/>
        </p:nvSpPr>
        <p:spPr>
          <a:xfrm>
            <a:off x="5321880" y="3364920"/>
            <a:ext cx="3245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Cap energy at 4,000 kcal (pure fat ceiling)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8"/>
          <p:cNvSpPr/>
          <p:nvPr/>
        </p:nvSpPr>
        <p:spPr>
          <a:xfrm>
            <a:off x="5010840" y="3886200"/>
            <a:ext cx="237240" cy="237240"/>
          </a:xfrm>
          <a:prstGeom prst="ellipse">
            <a:avLst/>
          </a:prstGeom>
          <a:solidFill>
            <a:srgbClr val="00c49a">
              <a:alpha val="30000"/>
            </a:srgbClr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9"/>
          <p:cNvSpPr/>
          <p:nvPr/>
        </p:nvSpPr>
        <p:spPr>
          <a:xfrm>
            <a:off x="5010840" y="388620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5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0"/>
          <p:cNvSpPr/>
          <p:nvPr/>
        </p:nvSpPr>
        <p:spPr>
          <a:xfrm>
            <a:off x="5321880" y="3840480"/>
            <a:ext cx="3245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Macro-sum sanity check (sugars + protein + fat ≤ 105g)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1"/>
          <p:cNvSpPr/>
          <p:nvPr/>
        </p:nvSpPr>
        <p:spPr>
          <a:xfrm>
            <a:off x="5010840" y="4361760"/>
            <a:ext cx="237240" cy="237240"/>
          </a:xfrm>
          <a:prstGeom prst="ellipse">
            <a:avLst/>
          </a:prstGeom>
          <a:solidFill>
            <a:srgbClr val="00c49a">
              <a:alpha val="30000"/>
            </a:srgbClr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2"/>
          <p:cNvSpPr/>
          <p:nvPr/>
        </p:nvSpPr>
        <p:spPr>
          <a:xfrm>
            <a:off x="5010840" y="436176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3"/>
          <p:cNvSpPr/>
          <p:nvPr/>
        </p:nvSpPr>
        <p:spPr>
          <a:xfrm>
            <a:off x="5321880" y="4316040"/>
            <a:ext cx="3245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De-duplicate on product_name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502920" y="3474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499" strike="noStrike">
                <a:solidFill>
                  <a:srgbClr val="00c49a"/>
                </a:solidFill>
                <a:effectLst/>
                <a:uFillTx/>
                <a:latin typeface="Calibri"/>
              </a:rPr>
              <a:t>CATEGORY WRANGLER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502920" y="6217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0ede8"/>
                </a:solidFill>
                <a:effectLst/>
                <a:uFillTx/>
                <a:latin typeface="Arial Black"/>
                <a:ea typeface="Arial Black"/>
              </a:rPr>
              <a:t>8 High-Level Snack Buckets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3" name="Chart 0"/>
          <p:cNvGraphicFramePr/>
          <p:nvPr/>
        </p:nvGraphicFramePr>
        <p:xfrm>
          <a:off x="502920" y="1371600"/>
          <a:ext cx="5668920" cy="3520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" name="Shape 2"/>
          <p:cNvSpPr/>
          <p:nvPr/>
        </p:nvSpPr>
        <p:spPr>
          <a:xfrm>
            <a:off x="6492240" y="1371600"/>
            <a:ext cx="2239920" cy="3520080"/>
          </a:xfrm>
          <a:prstGeom prst="rect">
            <a:avLst/>
          </a:prstGeom>
          <a:solidFill>
            <a:srgbClr val="131c35"/>
          </a:solidFill>
          <a:ln w="12700">
            <a:solidFill>
              <a:srgbClr val="00c49a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6583680" y="150876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201" strike="noStrike">
                <a:solidFill>
                  <a:srgbClr val="00c49a"/>
                </a:solidFill>
                <a:effectLst/>
                <a:uFillTx/>
                <a:latin typeface="Calibri"/>
              </a:rPr>
              <a:t>KEY TAKEAWAY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6583680" y="1828800"/>
            <a:ext cx="2057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Chips &amp; Candy dominate shelf space — over half of all products. Protein Bars represent only 2% of SKUs despite growing demand.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5"/>
          <p:cNvSpPr/>
          <p:nvPr/>
        </p:nvSpPr>
        <p:spPr>
          <a:xfrm>
            <a:off x="6492240" y="4206240"/>
            <a:ext cx="2239920" cy="502560"/>
          </a:xfrm>
          <a:prstGeom prst="rect">
            <a:avLst/>
          </a:prstGeom>
          <a:solidFill>
            <a:srgbClr val="00c49a">
              <a:alpha val="20000"/>
            </a:srgbClr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6"/>
          <p:cNvSpPr/>
          <p:nvPr/>
        </p:nvSpPr>
        <p:spPr>
          <a:xfrm>
            <a:off x="6537960" y="427032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2% Protein Bars vs 31% Chips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502920" y="3474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499" strike="noStrike">
                <a:solidFill>
                  <a:srgbClr val="00c49a"/>
                </a:solidFill>
                <a:effectLst/>
                <a:uFillTx/>
                <a:latin typeface="Calibri"/>
              </a:rPr>
              <a:t>NUTRIENT MATRIX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502920" y="6217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0ede8"/>
                </a:solidFill>
                <a:effectLst/>
                <a:uFillTx/>
                <a:latin typeface="Arial Black"/>
                <a:ea typeface="Arial Black"/>
              </a:rPr>
              <a:t>Sugar vs Protein — Mapping the Market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502920" y="1371600"/>
            <a:ext cx="4114440" cy="1691280"/>
          </a:xfrm>
          <a:prstGeom prst="rect">
            <a:avLst/>
          </a:prstGeom>
          <a:solidFill>
            <a:srgbClr val="131c35"/>
          </a:solidFill>
          <a:ln w="25400">
            <a:solidFill>
              <a:srgbClr val="00c49a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640080" y="14814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🎯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1188720" y="15087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99" strike="noStrike">
                <a:solidFill>
                  <a:srgbClr val="00c49a"/>
                </a:solidFill>
                <a:effectLst/>
                <a:uFillTx/>
                <a:latin typeface="Calibri"/>
              </a:rPr>
              <a:t>BLUE OCEAN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3566160" y="146304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00c49a"/>
                </a:solidFill>
                <a:effectLst/>
                <a:uFillTx/>
                <a:latin typeface="Arial Black"/>
                <a:ea typeface="Arial Black"/>
              </a:rPr>
              <a:t>~23%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640080" y="2030040"/>
            <a:ext cx="38401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High Protein + Low Sugar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UNDER-SERVED — our target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7"/>
          <p:cNvSpPr/>
          <p:nvPr/>
        </p:nvSpPr>
        <p:spPr>
          <a:xfrm>
            <a:off x="4846320" y="1371600"/>
            <a:ext cx="4114440" cy="1691280"/>
          </a:xfrm>
          <a:prstGeom prst="rect">
            <a:avLst/>
          </a:prstGeom>
          <a:solidFill>
            <a:srgbClr val="131c35"/>
          </a:solidFill>
          <a:ln w="25400">
            <a:solidFill>
              <a:srgbClr val="f59e0b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4983480" y="14814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⚠️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9"/>
          <p:cNvSpPr/>
          <p:nvPr/>
        </p:nvSpPr>
        <p:spPr>
          <a:xfrm>
            <a:off x="5532120" y="15087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99" strike="noStrike">
                <a:solidFill>
                  <a:srgbClr val="f59e0b"/>
                </a:solidFill>
                <a:effectLst/>
                <a:uFillTx/>
                <a:latin typeface="Calibri"/>
              </a:rPr>
              <a:t>HIGH PROTEIN / HIGH SUGAR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7909560" y="146304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rial Black"/>
                <a:ea typeface="Arial Black"/>
              </a:rPr>
              <a:t>~17%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4983480" y="2030040"/>
            <a:ext cx="38401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High protein but also high sugar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Limited health appeal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2"/>
          <p:cNvSpPr/>
          <p:nvPr/>
        </p:nvSpPr>
        <p:spPr>
          <a:xfrm>
            <a:off x="502920" y="3200400"/>
            <a:ext cx="4114440" cy="1691280"/>
          </a:xfrm>
          <a:prstGeom prst="rect">
            <a:avLst/>
          </a:prstGeom>
          <a:solidFill>
            <a:srgbClr val="131c35"/>
          </a:solidFill>
          <a:ln w="25400">
            <a:solidFill>
              <a:srgbClr val="64748b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640080" y="33102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📉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1188720" y="33375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99" strike="noStrike">
                <a:solidFill>
                  <a:srgbClr val="64748b"/>
                </a:solidFill>
                <a:effectLst/>
                <a:uFillTx/>
                <a:latin typeface="Calibri"/>
              </a:rPr>
              <a:t>LOW PROTEIN / LOW SUGAR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5"/>
          <p:cNvSpPr/>
          <p:nvPr/>
        </p:nvSpPr>
        <p:spPr>
          <a:xfrm>
            <a:off x="3566160" y="329184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64748b"/>
                </a:solidFill>
                <a:effectLst/>
                <a:uFillTx/>
                <a:latin typeface="Arial Black"/>
                <a:ea typeface="Arial Black"/>
              </a:rPr>
              <a:t>~20%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640080" y="3858840"/>
            <a:ext cx="38401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Better sugar profile but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no protein benefit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7"/>
          <p:cNvSpPr/>
          <p:nvPr/>
        </p:nvSpPr>
        <p:spPr>
          <a:xfrm>
            <a:off x="4846320" y="3200400"/>
            <a:ext cx="4114440" cy="1691280"/>
          </a:xfrm>
          <a:prstGeom prst="rect">
            <a:avLst/>
          </a:prstGeom>
          <a:solidFill>
            <a:srgbClr val="131c35"/>
          </a:solidFill>
          <a:ln w="25400">
            <a:solidFill>
              <a:srgbClr val="ef4444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4983480" y="33102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🚫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5532120" y="33375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99" strike="noStrike">
                <a:solidFill>
                  <a:srgbClr val="ef4444"/>
                </a:solidFill>
                <a:effectLst/>
                <a:uFillTx/>
                <a:latin typeface="Calibri"/>
              </a:rPr>
              <a:t>SATURATED ZONE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0"/>
          <p:cNvSpPr/>
          <p:nvPr/>
        </p:nvSpPr>
        <p:spPr>
          <a:xfrm>
            <a:off x="7909560" y="329184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ef4444"/>
                </a:solidFill>
                <a:effectLst/>
                <a:uFillTx/>
                <a:latin typeface="Arial Black"/>
                <a:ea typeface="Arial Black"/>
              </a:rPr>
              <a:t>~40%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1"/>
          <p:cNvSpPr/>
          <p:nvPr/>
        </p:nvSpPr>
        <p:spPr>
          <a:xfrm>
            <a:off x="4983480" y="3858840"/>
            <a:ext cx="38401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High Sugar + Low Protein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Where most products live today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2"/>
          <p:cNvSpPr/>
          <p:nvPr/>
        </p:nvSpPr>
        <p:spPr>
          <a:xfrm>
            <a:off x="502920" y="47548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201" strike="noStrike">
                <a:solidFill>
                  <a:srgbClr val="64748b"/>
                </a:solidFill>
                <a:effectLst/>
                <a:uFillTx/>
                <a:latin typeface="Calibri"/>
              </a:rPr>
              <a:t>← LOW SUGAR          HIGH SUGAR →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502920" y="3474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499" strike="noStrike">
                <a:solidFill>
                  <a:srgbClr val="00c49a"/>
                </a:solidFill>
                <a:effectLst/>
                <a:uFillTx/>
                <a:latin typeface="Calibri"/>
              </a:rPr>
              <a:t>BLUE OCEAN DEEP DIVE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502920" y="621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0ede8"/>
                </a:solidFill>
                <a:effectLst/>
                <a:uFillTx/>
                <a:latin typeface="Arial Black"/>
                <a:ea typeface="Arial Black"/>
              </a:rPr>
              <a:t>Which Categories Dominate the White Space?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4" name="Chart 0"/>
          <p:cNvGraphicFramePr/>
          <p:nvPr/>
        </p:nvGraphicFramePr>
        <p:xfrm>
          <a:off x="502920" y="1371600"/>
          <a:ext cx="5486040" cy="3474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5" name="Shape 2"/>
          <p:cNvSpPr/>
          <p:nvPr/>
        </p:nvSpPr>
        <p:spPr>
          <a:xfrm>
            <a:off x="6309360" y="1371600"/>
            <a:ext cx="2422800" cy="3474360"/>
          </a:xfrm>
          <a:prstGeom prst="rect">
            <a:avLst/>
          </a:prstGeom>
          <a:solidFill>
            <a:srgbClr val="041f10"/>
          </a:solidFill>
          <a:ln w="25400">
            <a:solidFill>
              <a:srgbClr val="00c49a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6400800" y="150876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pc="99" strike="noStrike">
                <a:solidFill>
                  <a:srgbClr val="00c49a"/>
                </a:solidFill>
                <a:effectLst/>
                <a:uFillTx/>
                <a:latin typeface="Calibri"/>
              </a:rPr>
              <a:t>🎯 TOP OPPORTUNITY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6309360" y="1883520"/>
            <a:ext cx="2422800" cy="27000"/>
          </a:xfrm>
          <a:prstGeom prst="rect">
            <a:avLst/>
          </a:prstGeom>
          <a:solidFill>
            <a:srgbClr val="00c49a">
              <a:alpha val="50000"/>
            </a:srgbClr>
          </a:solidFill>
          <a:ln w="12700">
            <a:solidFill>
              <a:srgbClr val="00c49a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6400800" y="2011680"/>
            <a:ext cx="2239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0ede8"/>
                </a:solidFill>
                <a:effectLst/>
                <a:uFillTx/>
                <a:latin typeface="Arial Black"/>
                <a:ea typeface="Arial Black"/>
              </a:rPr>
              <a:t>Nuts &amp; Seeds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6400800" y="288036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15.0g avg protein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7"/>
          <p:cNvSpPr/>
          <p:nvPr/>
        </p:nvSpPr>
        <p:spPr>
          <a:xfrm>
            <a:off x="6400800" y="321876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4.2g avg sugar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8"/>
          <p:cNvSpPr/>
          <p:nvPr/>
        </p:nvSpPr>
        <p:spPr>
          <a:xfrm>
            <a:off x="6400800" y="370332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Only ~2% of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current SKUs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9"/>
          <p:cNvSpPr/>
          <p:nvPr/>
        </p:nvSpPr>
        <p:spPr>
          <a:xfrm>
            <a:off x="6309360" y="4297680"/>
            <a:ext cx="2422800" cy="383760"/>
          </a:xfrm>
          <a:prstGeom prst="rect">
            <a:avLst/>
          </a:prstGeom>
          <a:solidFill>
            <a:srgbClr val="00c49a">
              <a:alpha val="25000"/>
            </a:srgbClr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6355080" y="4361760"/>
            <a:ext cx="2331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99" strike="noStrike">
                <a:solidFill>
                  <a:srgbClr val="00c49a"/>
                </a:solidFill>
                <a:effectLst/>
                <a:uFillTx/>
                <a:latin typeface="Calibri"/>
              </a:rPr>
              <a:t>MASSIVE WHITE SPACE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502920" y="3474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499" strike="noStrike">
                <a:solidFill>
                  <a:srgbClr val="00c49a"/>
                </a:solidFill>
                <a:effectLst/>
                <a:uFillTx/>
                <a:latin typeface="Calibri"/>
              </a:rPr>
              <a:t>HIDDEN GEM — BONUS STORY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502920" y="621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0ede8"/>
                </a:solidFill>
                <a:effectLst/>
                <a:uFillTx/>
                <a:latin typeface="Arial Black"/>
                <a:ea typeface="Arial Black"/>
              </a:rPr>
              <a:t>What's Driving High Protein Content?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502920" y="1371600"/>
            <a:ext cx="2742840" cy="1919880"/>
          </a:xfrm>
          <a:prstGeom prst="rect">
            <a:avLst/>
          </a:prstGeom>
          <a:solidFill>
            <a:srgbClr val="131c35"/>
          </a:solidFill>
          <a:ln w="25400">
            <a:solidFill>
              <a:srgbClr val="00c49a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502920" y="141732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00c49a"/>
                </a:solidFill>
                <a:effectLst/>
                <a:uFillTx/>
                <a:latin typeface="Arial Black"/>
                <a:ea typeface="Arial Black"/>
              </a:rPr>
              <a:t>#1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502920" y="19202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0ede8"/>
                </a:solidFill>
                <a:effectLst/>
                <a:uFillTx/>
                <a:latin typeface="Calibri"/>
              </a:rPr>
              <a:t>Peanut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612720" y="2331720"/>
            <a:ext cx="25232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Dominant in nuts/seeds &amp; healthy bars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Affordable, scalable supply chain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6"/>
          <p:cNvSpPr/>
          <p:nvPr/>
        </p:nvSpPr>
        <p:spPr>
          <a:xfrm>
            <a:off x="3383280" y="1371600"/>
            <a:ext cx="2742840" cy="1919880"/>
          </a:xfrm>
          <a:prstGeom prst="rect">
            <a:avLst/>
          </a:prstGeom>
          <a:solidFill>
            <a:srgbClr val="131c35"/>
          </a:solidFill>
          <a:ln w="25400">
            <a:solidFill>
              <a:srgbClr val="f59e0b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3383280" y="141732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59e0b"/>
                </a:solidFill>
                <a:effectLst/>
                <a:uFillTx/>
                <a:latin typeface="Arial Black"/>
                <a:ea typeface="Arial Black"/>
              </a:rPr>
              <a:t>#2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3383280" y="19202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0ede8"/>
                </a:solidFill>
                <a:effectLst/>
                <a:uFillTx/>
                <a:latin typeface="Calibri"/>
              </a:rPr>
              <a:t>Almond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9"/>
          <p:cNvSpPr/>
          <p:nvPr/>
        </p:nvSpPr>
        <p:spPr>
          <a:xfrm>
            <a:off x="3493080" y="2331720"/>
            <a:ext cx="25232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Premium positioning advantage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High consumer recognition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0"/>
          <p:cNvSpPr/>
          <p:nvPr/>
        </p:nvSpPr>
        <p:spPr>
          <a:xfrm>
            <a:off x="6263640" y="1371600"/>
            <a:ext cx="2742840" cy="1919880"/>
          </a:xfrm>
          <a:prstGeom prst="rect">
            <a:avLst/>
          </a:prstGeom>
          <a:solidFill>
            <a:srgbClr val="131c35"/>
          </a:solidFill>
          <a:ln w="25400">
            <a:solidFill>
              <a:srgbClr val="818cf8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6263640" y="141732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818cf8"/>
                </a:solidFill>
                <a:effectLst/>
                <a:uFillTx/>
                <a:latin typeface="Arial Black"/>
                <a:ea typeface="Arial Black"/>
              </a:rPr>
              <a:t>#3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6263640" y="19202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0ede8"/>
                </a:solidFill>
                <a:effectLst/>
                <a:uFillTx/>
                <a:latin typeface="Calibri"/>
              </a:rPr>
              <a:t>Soy Protein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6373440" y="2331720"/>
            <a:ext cx="25232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Plant-based leader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Vegan market alignment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8" name="Chart 0"/>
          <p:cNvGraphicFramePr/>
          <p:nvPr/>
        </p:nvGraphicFramePr>
        <p:xfrm>
          <a:off x="502920" y="3429000"/>
          <a:ext cx="8229240" cy="150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502920" y="3474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499" strike="noStrike">
                <a:solidFill>
                  <a:srgbClr val="f59e0b"/>
                </a:solidFill>
                <a:effectLst/>
                <a:uFillTx/>
                <a:latin typeface="Calibri"/>
              </a:rPr>
              <a:t>CANDIDATE'S CHOICE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502920" y="621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0ede8"/>
                </a:solidFill>
                <a:effectLst/>
                <a:uFillTx/>
                <a:latin typeface="Arial Black"/>
                <a:ea typeface="Arial Black"/>
              </a:rPr>
              <a:t>Nutri-Score × Protein: The Investable White Space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502920" y="1325880"/>
            <a:ext cx="8229240" cy="685440"/>
          </a:xfrm>
          <a:prstGeom prst="rect">
            <a:avLst/>
          </a:prstGeom>
          <a:solidFill>
            <a:srgbClr val="1a0f00"/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502920" y="1325880"/>
            <a:ext cx="50040" cy="685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685800" y="1398960"/>
            <a:ext cx="7909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Why: EU Nutri-Score labelling is now mandatory in multiple markets. A product can be High Protein + Low Sugar but still score D/E (sodium, sat. fat) — and fail on-shelf. This heatmap pinpoints where protein excellence AND label quality co-exist.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4" name="Table 0"/>
          <p:cNvGraphicFramePr/>
          <p:nvPr/>
        </p:nvGraphicFramePr>
        <p:xfrm>
          <a:off x="502920" y="2148840"/>
          <a:ext cx="8229240" cy="2559960"/>
        </p:xfrm>
        <a:graphic>
          <a:graphicData uri="http://schemas.openxmlformats.org/drawingml/2006/table">
            <a:tbl>
              <a:tblPr/>
              <a:tblGrid>
                <a:gridCol w="2560320"/>
                <a:gridCol w="1133640"/>
                <a:gridCol w="1133640"/>
                <a:gridCol w="1133640"/>
                <a:gridCol w="1133640"/>
                <a:gridCol w="1133640"/>
              </a:tblGrid>
              <a:tr h="426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00c49a"/>
                          </a:solidFill>
                          <a:effectLst/>
                          <a:uFillTx/>
                          <a:latin typeface="Calibri"/>
                        </a:rPr>
                        <a:t>Category \ Nutri-Score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1c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00c49a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1c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00c49a"/>
                          </a:solidFill>
                          <a:effectLst/>
                          <a:uFillTx/>
                          <a:latin typeface="Calibri"/>
                        </a:rPr>
                        <a:t>B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1c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00c49a"/>
                          </a:solidFill>
                          <a:effectLst/>
                          <a:uFillTx/>
                          <a:latin typeface="Calibri"/>
                        </a:rPr>
                        <a:t>C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1c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00c49a"/>
                          </a:solidFill>
                          <a:effectLst/>
                          <a:uFillTx/>
                          <a:latin typeface="Calibri"/>
                        </a:rPr>
                        <a:t>D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1c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00c49a"/>
                          </a:solidFill>
                          <a:effectLst/>
                          <a:uFillTx/>
                          <a:latin typeface="Calibri"/>
                        </a:rPr>
                        <a:t>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1c35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c8d0d8"/>
                          </a:solidFill>
                          <a:effectLst/>
                          <a:uFillTx/>
                          <a:latin typeface="Calibri"/>
                        </a:rPr>
                        <a:t>Protein Bars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1c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21.2g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0c49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18.4g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0c49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c8d0d8"/>
                          </a:solidFill>
                          <a:effectLst/>
                          <a:uFillTx/>
                          <a:latin typeface="Calibri"/>
                        </a:rPr>
                        <a:t>9.1g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5c4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</a:rPr>
                        <a:t>4.2g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2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libri"/>
                        </a:rPr>
                        <a:t>2.1g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a0a12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c8d0d8"/>
                          </a:solidFill>
                          <a:effectLst/>
                          <a:uFillTx/>
                          <a:latin typeface="Calibri"/>
                        </a:rPr>
                        <a:t>Nuts &amp; Seeds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1c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15.8g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09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12.3g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09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c8d0d8"/>
                          </a:solidFill>
                          <a:effectLst/>
                          <a:uFillTx/>
                          <a:latin typeface="Calibri"/>
                        </a:rPr>
                        <a:t>8.8g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5c4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</a:rPr>
                        <a:t>5.5g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2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libri"/>
                        </a:rPr>
                        <a:t>3g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a0a12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c8d0d8"/>
                          </a:solidFill>
                          <a:effectLst/>
                          <a:uFillTx/>
                          <a:latin typeface="Calibri"/>
                        </a:rPr>
                        <a:t>Dairy &amp; Eggs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1c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c8d0d8"/>
                          </a:solidFill>
                          <a:effectLst/>
                          <a:uFillTx/>
                          <a:latin typeface="Calibri"/>
                        </a:rPr>
                        <a:t>10.5g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5c4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c8d0d8"/>
                          </a:solidFill>
                          <a:effectLst/>
                          <a:uFillTx/>
                          <a:latin typeface="Calibri"/>
                        </a:rPr>
                        <a:t>8.9g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5c4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c8d0d8"/>
                          </a:solidFill>
                          <a:effectLst/>
                          <a:uFillTx/>
                          <a:latin typeface="Calibri"/>
                        </a:rPr>
                        <a:t>11.2g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5c4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</a:rPr>
                        <a:t>6.3g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2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</a:rPr>
                        <a:t>4.1g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230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c8d0d8"/>
                          </a:solidFill>
                          <a:effectLst/>
                          <a:uFillTx/>
                          <a:latin typeface="Calibri"/>
                        </a:rPr>
                        <a:t>Cereals &amp; Granola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1c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c8d0d8"/>
                          </a:solidFill>
                          <a:effectLst/>
                          <a:uFillTx/>
                          <a:latin typeface="Calibri"/>
                        </a:rPr>
                        <a:t>7.2g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5c4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</a:rPr>
                        <a:t>6g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2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</a:rPr>
                        <a:t>5.1g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2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libri"/>
                        </a:rPr>
                        <a:t>3.8g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a0a1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libri"/>
                        </a:rPr>
                        <a:t>2.5g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a0a12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c8d0d8"/>
                          </a:solidFill>
                          <a:effectLst/>
                          <a:uFillTx/>
                          <a:latin typeface="Calibri"/>
                        </a:rPr>
                        <a:t>Chips &amp; Savory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1c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</a:rPr>
                        <a:t>4.1g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322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libri"/>
                        </a:rPr>
                        <a:t>3.5g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a0a1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libri"/>
                        </a:rPr>
                        <a:t>2.9g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a0a1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libri"/>
                        </a:rPr>
                        <a:t>2.1g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a0a1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libri"/>
                        </a:rPr>
                        <a:t>1.8g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a0a12"/>
                    </a:solidFill>
                  </a:tcPr>
                </a:tc>
              </a:tr>
            </a:tbl>
          </a:graphicData>
        </a:graphic>
      </p:graphicFrame>
      <p:sp>
        <p:nvSpPr>
          <p:cNvPr id="165" name="Text 5"/>
          <p:cNvSpPr/>
          <p:nvPr/>
        </p:nvSpPr>
        <p:spPr>
          <a:xfrm>
            <a:off x="502920" y="47732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Green cells = high avg. protein per 100g · Cross these with Nutri-Score A/B to find R&amp;D targets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5943600" y="-1828800"/>
            <a:ext cx="5486040" cy="5486040"/>
          </a:xfrm>
          <a:prstGeom prst="ellipse">
            <a:avLst/>
          </a:prstGeom>
          <a:solidFill>
            <a:srgbClr val="00c49a">
              <a:alpha val="10000"/>
            </a:srgbClr>
          </a:solidFill>
          <a:ln w="12700">
            <a:solidFill>
              <a:srgbClr val="00c49a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502920" y="3474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499" strike="noStrike">
                <a:solidFill>
                  <a:srgbClr val="00c49a"/>
                </a:solidFill>
                <a:effectLst/>
                <a:uFillTx/>
                <a:latin typeface="Calibri"/>
              </a:rPr>
              <a:t>THE RECOMMENDATION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502920" y="6217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0ede8"/>
                </a:solidFill>
                <a:effectLst/>
                <a:uFillTx/>
                <a:latin typeface="Arial Black"/>
                <a:ea typeface="Arial Black"/>
              </a:rPr>
              <a:t>Our R&amp;D Brief to the Client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502920" y="1417320"/>
            <a:ext cx="8183520" cy="1737000"/>
          </a:xfrm>
          <a:prstGeom prst="rect">
            <a:avLst/>
          </a:prstGeom>
          <a:solidFill>
            <a:srgbClr val="041f10"/>
          </a:solidFill>
          <a:ln w="31750">
            <a:solidFill>
              <a:srgbClr val="00c49a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4"/>
          <p:cNvSpPr/>
          <p:nvPr/>
        </p:nvSpPr>
        <p:spPr>
          <a:xfrm>
            <a:off x="502920" y="1417320"/>
            <a:ext cx="63720" cy="17370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685800" y="150876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300" strike="noStrike">
                <a:solidFill>
                  <a:srgbClr val="00c49a"/>
                </a:solidFill>
                <a:effectLst/>
                <a:uFillTx/>
                <a:latin typeface="Calibri"/>
              </a:rPr>
              <a:t>KEY INSIGHT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685800" y="1828800"/>
            <a:ext cx="7863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f0ede8"/>
                </a:solidFill>
                <a:effectLst/>
                <a:uFillTx/>
                <a:latin typeface="Calibri"/>
              </a:rPr>
              <a:t>Based on the data, the biggest market opportunity is in Cereals &amp; Granola, specifically targeting products with ≥ 15g of protein and less than 5g of sugar per 100g.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7"/>
          <p:cNvSpPr/>
          <p:nvPr/>
        </p:nvSpPr>
        <p:spPr>
          <a:xfrm>
            <a:off x="502920" y="3337560"/>
            <a:ext cx="2742840" cy="1599840"/>
          </a:xfrm>
          <a:prstGeom prst="rect">
            <a:avLst/>
          </a:prstGeom>
          <a:solidFill>
            <a:srgbClr val="131c35"/>
          </a:solidFill>
          <a:ln w="12700">
            <a:solidFill>
              <a:srgbClr val="00c49a">
                <a:alpha val="40000"/>
              </a:srgbClr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502920" y="340164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🧪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9"/>
          <p:cNvSpPr/>
          <p:nvPr/>
        </p:nvSpPr>
        <p:spPr>
          <a:xfrm>
            <a:off x="502920" y="38221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Formulation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594360" y="4114800"/>
            <a:ext cx="25599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Peanut + Whey protein blend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Targets Nutri-Score A/B certification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1"/>
          <p:cNvSpPr/>
          <p:nvPr/>
        </p:nvSpPr>
        <p:spPr>
          <a:xfrm>
            <a:off x="3383280" y="3337560"/>
            <a:ext cx="2742840" cy="1599840"/>
          </a:xfrm>
          <a:prstGeom prst="rect">
            <a:avLst/>
          </a:prstGeom>
          <a:solidFill>
            <a:srgbClr val="131c35"/>
          </a:solidFill>
          <a:ln w="12700">
            <a:solidFill>
              <a:srgbClr val="00c49a">
                <a:alpha val="40000"/>
              </a:srgbClr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2"/>
          <p:cNvSpPr/>
          <p:nvPr/>
        </p:nvSpPr>
        <p:spPr>
          <a:xfrm>
            <a:off x="3383280" y="340164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📋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3383280" y="38221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Positioning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4"/>
          <p:cNvSpPr/>
          <p:nvPr/>
        </p:nvSpPr>
        <p:spPr>
          <a:xfrm>
            <a:off x="3474720" y="4114800"/>
            <a:ext cx="25599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High-Protein Granola line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Premium health-food aisle placement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5"/>
          <p:cNvSpPr/>
          <p:nvPr/>
        </p:nvSpPr>
        <p:spPr>
          <a:xfrm>
            <a:off x="6263640" y="3337560"/>
            <a:ext cx="2742840" cy="1599840"/>
          </a:xfrm>
          <a:prstGeom prst="rect">
            <a:avLst/>
          </a:prstGeom>
          <a:solidFill>
            <a:srgbClr val="131c35"/>
          </a:solidFill>
          <a:ln w="12700">
            <a:solidFill>
              <a:srgbClr val="00c49a">
                <a:alpha val="40000"/>
              </a:srgbClr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6"/>
          <p:cNvSpPr/>
          <p:nvPr/>
        </p:nvSpPr>
        <p:spPr>
          <a:xfrm>
            <a:off x="6263640" y="340164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🌍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7"/>
          <p:cNvSpPr/>
          <p:nvPr/>
        </p:nvSpPr>
        <p:spPr>
          <a:xfrm>
            <a:off x="6263640" y="38221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Market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8"/>
          <p:cNvSpPr/>
          <p:nvPr/>
        </p:nvSpPr>
        <p:spPr>
          <a:xfrm>
            <a:off x="6355080" y="4114800"/>
            <a:ext cx="25599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Launch in EU first (mandatory labelling)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d0d8"/>
                </a:solidFill>
                <a:effectLst/>
                <a:uFillTx/>
                <a:latin typeface="Calibri"/>
              </a:rPr>
              <a:t>Differentiate on Nutri-Score A badge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-914400" y="-914400"/>
            <a:ext cx="4571640" cy="4571640"/>
          </a:xfrm>
          <a:prstGeom prst="ellipse">
            <a:avLst/>
          </a:prstGeom>
          <a:solidFill>
            <a:srgbClr val="00c49a">
              <a:alpha val="12000"/>
            </a:srgbClr>
          </a:solidFill>
          <a:ln w="12700">
            <a:solidFill>
              <a:srgbClr val="00c49a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"/>
          <p:cNvSpPr/>
          <p:nvPr/>
        </p:nvSpPr>
        <p:spPr>
          <a:xfrm>
            <a:off x="6858000" y="2286000"/>
            <a:ext cx="3657240" cy="3657240"/>
          </a:xfrm>
          <a:prstGeom prst="ellipse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00c49a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502920" y="1097280"/>
            <a:ext cx="8412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000" b="1" u="none" strike="noStrike">
                <a:solidFill>
                  <a:srgbClr val="00c49a"/>
                </a:solidFill>
                <a:effectLst/>
                <a:uFillTx/>
                <a:latin typeface="Arial Black"/>
                <a:ea typeface="Arial Black"/>
              </a:rPr>
              <a:t>THANK YOU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502920" y="219456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i="1" u="none" strike="noStrike">
                <a:solidFill>
                  <a:srgbClr val="f0ede8"/>
                </a:solidFill>
                <a:effectLst/>
                <a:uFillTx/>
                <a:latin typeface="Calibri"/>
              </a:rPr>
              <a:t>Questions &amp; Discussion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4"/>
          <p:cNvSpPr/>
          <p:nvPr/>
        </p:nvSpPr>
        <p:spPr>
          <a:xfrm>
            <a:off x="3200400" y="2834640"/>
            <a:ext cx="2742840" cy="36360"/>
          </a:xfrm>
          <a:prstGeom prst="rect">
            <a:avLst/>
          </a:prstGeom>
          <a:solidFill>
            <a:srgbClr val="00c49a">
              <a:alpha val="50000"/>
            </a:srgbClr>
          </a:solidFill>
          <a:ln w="12700">
            <a:solidFill>
              <a:srgbClr val="00c49a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5"/>
          <p:cNvSpPr/>
          <p:nvPr/>
        </p:nvSpPr>
        <p:spPr>
          <a:xfrm>
            <a:off x="502920" y="310896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Dashboard: </a:t>
            </a:r>
            <a:r>
              <a:rPr lang="en-US" sz="1200" b="0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plank-panama-prepay.ngrok-free.dev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6"/>
          <p:cNvSpPr/>
          <p:nvPr/>
        </p:nvSpPr>
        <p:spPr>
          <a:xfrm>
            <a:off x="502920" y="345636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Notebook: </a:t>
            </a:r>
            <a:r>
              <a:rPr lang="en-US" sz="1200" b="0" u="none" strike="noStrike">
                <a:solidFill>
                  <a:srgbClr val="00c49a"/>
                </a:solidFill>
                <a:effectLst/>
                <a:uFillTx/>
                <a:latin typeface="Calibri"/>
              </a:rPr>
              <a:t>colab.research.google.com/  [https://colab.research.google.com/drive/1E5u2DW3I9I7S6o3eCLjkSk7_D19dpLHA?usp=sharing]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7"/>
          <p:cNvSpPr/>
          <p:nvPr/>
        </p:nvSpPr>
        <p:spPr>
          <a:xfrm>
            <a:off x="502920" y="47091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LibreOffice/25.8.6.2$Linux_X86_64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2026-05-26T23:29:18Z</dcterms:created>
  <dc:creator>Helix CPG Partners</dc:creator>
  <dc:description/>
  <dc:language>en-US</dc:language>
  <cp:lastModifiedBy/>
  <dcterms:modified xsi:type="dcterms:W3CDTF">2026-05-27T18:41:24Z</dcterms:modified>
  <cp:revision>3</cp:revision>
  <dc:subject>PptxGenJS Presentation</dc:subject>
  <dc:title>Sugar Trap: Blue Ocean Market Gap Analysis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